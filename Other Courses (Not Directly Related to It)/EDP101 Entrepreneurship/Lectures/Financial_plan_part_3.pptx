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14"/>
  </p:notesMasterIdLst>
  <p:sldIdLst>
    <p:sldId id="287" r:id="rId3"/>
    <p:sldId id="278" r:id="rId4"/>
    <p:sldId id="279" r:id="rId5"/>
    <p:sldId id="280" r:id="rId6"/>
    <p:sldId id="289" r:id="rId7"/>
    <p:sldId id="290" r:id="rId8"/>
    <p:sldId id="291" r:id="rId9"/>
    <p:sldId id="292" r:id="rId10"/>
    <p:sldId id="293" r:id="rId11"/>
    <p:sldId id="282" r:id="rId12"/>
    <p:sldId id="28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B7592-D6F0-415D-BFE7-B347ECE6D33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7A5F1F-A8E1-4779-B9B0-6717C7894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0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39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36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68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18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44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91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06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85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293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01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379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1331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95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52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07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995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31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6241" y="4323810"/>
            <a:ext cx="728623" cy="77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316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0154" y="73930"/>
            <a:ext cx="10311700" cy="84739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0154" y="1177879"/>
            <a:ext cx="10311700" cy="5361714"/>
          </a:xfrm>
        </p:spPr>
        <p:txBody>
          <a:bodyPr>
            <a:normAutofit/>
          </a:bodyPr>
          <a:lstStyle>
            <a:lvl1pPr>
              <a:buClr>
                <a:srgbClr val="0070C0"/>
              </a:buClr>
              <a:defRPr sz="3000"/>
            </a:lvl1pPr>
            <a:lvl2pPr marL="742950" indent="-285750">
              <a:buClr>
                <a:srgbClr val="0070C0"/>
              </a:buClr>
              <a:buFont typeface="Wingdings" panose="05000000000000000000" pitchFamily="2" charset="2"/>
              <a:buChar char="§"/>
              <a:defRPr sz="2400"/>
            </a:lvl2pPr>
            <a:lvl3pPr marL="11430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2000"/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155121" y="714374"/>
            <a:ext cx="142921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</p:sp>
      <p:cxnSp>
        <p:nvCxnSpPr>
          <p:cNvPr id="9" name="Straight Connector 8"/>
          <p:cNvCxnSpPr/>
          <p:nvPr userDrawn="1"/>
        </p:nvCxnSpPr>
        <p:spPr>
          <a:xfrm>
            <a:off x="1584338" y="985652"/>
            <a:ext cx="10367516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1657" y="742868"/>
            <a:ext cx="423182" cy="45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5738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11E2-AF8A-4139-AF64-45111149A16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</p:spPr>
        <p:txBody>
          <a:bodyPr/>
          <a:lstStyle/>
          <a:p>
            <a:fld id="{51792C68-C6A2-41AF-834B-931162B7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03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11E2-AF8A-4139-AF64-45111149A16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/>
          <a:lstStyle/>
          <a:p>
            <a:fld id="{51792C68-C6A2-41AF-834B-931162B7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8681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11E2-AF8A-4139-AF64-45111149A16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/>
          <a:lstStyle/>
          <a:p>
            <a:fld id="{51792C68-C6A2-41AF-834B-931162B7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764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11E2-AF8A-4139-AF64-45111149A16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/>
          <a:lstStyle/>
          <a:p>
            <a:fld id="{51792C68-C6A2-41AF-834B-931162B7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971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11E2-AF8A-4139-AF64-45111149A16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/>
          <a:lstStyle/>
          <a:p>
            <a:fld id="{51792C68-C6A2-41AF-834B-931162B7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540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11E2-AF8A-4139-AF64-45111149A16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/>
          <a:lstStyle/>
          <a:p>
            <a:fld id="{51792C68-C6A2-41AF-834B-931162B7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340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11E2-AF8A-4139-AF64-45111149A16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</p:spPr>
        <p:txBody>
          <a:bodyPr/>
          <a:lstStyle/>
          <a:p>
            <a:fld id="{51792C68-C6A2-41AF-834B-931162B7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345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0095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4371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4237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13979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1642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11E2-AF8A-4139-AF64-45111149A16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/>
          <a:lstStyle/>
          <a:p>
            <a:fld id="{51792C68-C6A2-41AF-834B-931162B7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407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11E2-AF8A-4139-AF64-45111149A16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/>
          <a:lstStyle/>
          <a:p>
            <a:fld id="{51792C68-C6A2-41AF-834B-931162B7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80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7FAADA8-9E58-4D58-B59E-971F7AC8EB2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5FAC5-FDFC-4DB9-B7B4-8B1B31990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755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228600"/>
            <a:ext cx="1416440" cy="6638628"/>
            <a:chOff x="2487613" y="285750"/>
            <a:chExt cx="1206501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 userDrawn="1"/>
        </p:nvGrpSpPr>
        <p:grpSpPr>
          <a:xfrm>
            <a:off x="27221" y="-786"/>
            <a:ext cx="1670950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1993" y="638903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“Someday’ isn’t a real day like Monday or Tuesday; it’s just another word for ‘never”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881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9198" y="859014"/>
            <a:ext cx="8825658" cy="1687340"/>
          </a:xfrm>
        </p:spPr>
        <p:txBody>
          <a:bodyPr/>
          <a:lstStyle/>
          <a:p>
            <a:r>
              <a:rPr lang="en-US" dirty="0" smtClean="0"/>
              <a:t>Unit </a:t>
            </a:r>
            <a:r>
              <a:rPr lang="en-US" dirty="0"/>
              <a:t>9</a:t>
            </a:r>
            <a:r>
              <a:rPr lang="en-US" dirty="0" smtClean="0"/>
              <a:t>: </a:t>
            </a:r>
            <a:r>
              <a:rPr lang="en-US" dirty="0" smtClean="0"/>
              <a:t>Financials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103" y="3636949"/>
            <a:ext cx="8825658" cy="861420"/>
          </a:xfrm>
        </p:spPr>
        <p:txBody>
          <a:bodyPr/>
          <a:lstStyle/>
          <a:p>
            <a:r>
              <a:rPr lang="en-US" dirty="0" smtClean="0"/>
              <a:t>The biggest risk of all is not taking one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995" y="2845942"/>
            <a:ext cx="6162231" cy="388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57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Depreciation 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25242" y="1429408"/>
            <a:ext cx="11099199" cy="5087007"/>
          </a:xfrm>
        </p:spPr>
        <p:txBody>
          <a:bodyPr>
            <a:noAutofit/>
          </a:bodyPr>
          <a:lstStyle/>
          <a:p>
            <a:r>
              <a:rPr lang="en-US" dirty="0"/>
              <a:t>Depreciation is deducted from gross profit.</a:t>
            </a:r>
          </a:p>
          <a:p>
            <a:r>
              <a:rPr lang="en-US" dirty="0"/>
              <a:t>Depreciation takes into account the </a:t>
            </a:r>
            <a:r>
              <a:rPr lang="en-US" dirty="0">
                <a:solidFill>
                  <a:srgbClr val="FFFF00"/>
                </a:solidFill>
              </a:rPr>
              <a:t>wear and tear </a:t>
            </a:r>
            <a:r>
              <a:rPr lang="en-US" dirty="0"/>
              <a:t>on some </a:t>
            </a:r>
            <a:r>
              <a:rPr lang="en-US" dirty="0">
                <a:solidFill>
                  <a:srgbClr val="FFFF00"/>
                </a:solidFill>
              </a:rPr>
              <a:t>assets over the periods </a:t>
            </a:r>
            <a:r>
              <a:rPr lang="en-US" dirty="0"/>
              <a:t>they are </a:t>
            </a:r>
            <a:r>
              <a:rPr lang="en-US" dirty="0">
                <a:solidFill>
                  <a:srgbClr val="FFFF00"/>
                </a:solidFill>
              </a:rPr>
              <a:t>used.</a:t>
            </a:r>
          </a:p>
          <a:p>
            <a:r>
              <a:rPr lang="en-US" dirty="0"/>
              <a:t>Depreciation should not be in cash flow because this money remains with you.</a:t>
            </a:r>
          </a:p>
          <a:p>
            <a:r>
              <a:rPr lang="en-US" dirty="0"/>
              <a:t> A land is the only exception which cannot be depreciated as the value of land appreciates with the time.</a:t>
            </a:r>
          </a:p>
          <a:p>
            <a:pPr marL="45720" indent="0">
              <a:buNone/>
            </a:pPr>
            <a:r>
              <a:rPr lang="en-US" dirty="0">
                <a:solidFill>
                  <a:srgbClr val="FFC000"/>
                </a:solidFill>
              </a:rPr>
              <a:t>                                         y</a:t>
            </a:r>
          </a:p>
          <a:p>
            <a:pPr marL="45720" indent="0">
              <a:buNone/>
            </a:pPr>
            <a:r>
              <a:rPr lang="en-US" dirty="0">
                <a:solidFill>
                  <a:srgbClr val="FFC000"/>
                </a:solidFill>
              </a:rPr>
              <a:t>    </a:t>
            </a:r>
            <a:r>
              <a:rPr lang="en-US" b="1" dirty="0">
                <a:solidFill>
                  <a:srgbClr val="FFC000"/>
                </a:solidFill>
              </a:rPr>
              <a:t>Salvage value= P(1-i)</a:t>
            </a:r>
          </a:p>
          <a:p>
            <a:pPr marL="45720" indent="0">
              <a:buNone/>
            </a:pPr>
            <a:r>
              <a:rPr lang="en-US" sz="2400" dirty="0"/>
              <a:t>             P =original price</a:t>
            </a:r>
          </a:p>
          <a:p>
            <a:pPr marL="45720" indent="0">
              <a:buNone/>
            </a:pPr>
            <a:r>
              <a:rPr lang="en-US" sz="2400" dirty="0"/>
              <a:t>             </a:t>
            </a:r>
            <a:r>
              <a:rPr lang="en-US" sz="2400" dirty="0" err="1"/>
              <a:t>i</a:t>
            </a:r>
            <a:r>
              <a:rPr lang="en-US" sz="2400" dirty="0"/>
              <a:t> =Depreciation rate%</a:t>
            </a:r>
          </a:p>
          <a:p>
            <a:pPr marL="45720" indent="0">
              <a:buNone/>
            </a:pPr>
            <a:r>
              <a:rPr lang="en-US" sz="2400" dirty="0"/>
              <a:t>            y   =number of years</a:t>
            </a:r>
          </a:p>
          <a:p>
            <a:pPr marL="4572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837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Straight line depreciation method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103312" y="1681656"/>
            <a:ext cx="9985102" cy="4566744"/>
          </a:xfrm>
        </p:spPr>
        <p:txBody>
          <a:bodyPr>
            <a:normAutofit/>
          </a:bodyPr>
          <a:lstStyle/>
          <a:p>
            <a:r>
              <a:rPr lang="en-IN" dirty="0"/>
              <a:t>The simplest method of </a:t>
            </a:r>
            <a:r>
              <a:rPr lang="en-IN" dirty="0" smtClean="0"/>
              <a:t>all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Annual depreciation rate=(1/asset life) x 100 (considering zero residual value)</a:t>
            </a:r>
          </a:p>
          <a:p>
            <a:pPr marL="45720" indent="0">
              <a:buNone/>
            </a:pPr>
            <a:r>
              <a:rPr lang="en-IN" dirty="0" smtClean="0">
                <a:solidFill>
                  <a:schemeClr val="tx2"/>
                </a:solidFill>
              </a:rPr>
              <a:t>Annual </a:t>
            </a:r>
            <a:r>
              <a:rPr lang="en-IN" dirty="0">
                <a:solidFill>
                  <a:schemeClr val="tx2"/>
                </a:solidFill>
              </a:rPr>
              <a:t>Depreciation </a:t>
            </a:r>
            <a:r>
              <a:rPr lang="en-IN" dirty="0" smtClean="0">
                <a:solidFill>
                  <a:schemeClr val="tx2"/>
                </a:solidFill>
              </a:rPr>
              <a:t>rate= </a:t>
            </a:r>
            <a:r>
              <a:rPr lang="en-IN" u="sng" dirty="0">
                <a:solidFill>
                  <a:schemeClr val="tx2"/>
                </a:solidFill>
              </a:rPr>
              <a:t>(</a:t>
            </a:r>
            <a:r>
              <a:rPr lang="en-IN" u="sng" dirty="0" smtClean="0">
                <a:solidFill>
                  <a:schemeClr val="tx2"/>
                </a:solidFill>
              </a:rPr>
              <a:t>Annual depreciation expense </a:t>
            </a:r>
            <a:endParaRPr lang="en-IN" u="sng" dirty="0">
              <a:solidFill>
                <a:schemeClr val="tx2"/>
              </a:solidFill>
            </a:endParaRPr>
          </a:p>
          <a:p>
            <a:pPr marL="45720" indent="0">
              <a:buNone/>
            </a:pPr>
            <a:r>
              <a:rPr lang="en-IN" dirty="0">
                <a:solidFill>
                  <a:schemeClr val="tx2"/>
                </a:solidFill>
              </a:rPr>
              <a:t>                                                          </a:t>
            </a:r>
            <a:r>
              <a:rPr lang="en-IN" dirty="0" smtClean="0">
                <a:solidFill>
                  <a:schemeClr val="tx2"/>
                </a:solidFill>
              </a:rPr>
              <a:t>cost of asset-salvage value</a:t>
            </a:r>
            <a:endParaRPr lang="en-IN" dirty="0">
              <a:solidFill>
                <a:schemeClr val="tx2"/>
              </a:solidFill>
            </a:endParaRPr>
          </a:p>
          <a:p>
            <a:pPr marL="45720" indent="0">
              <a:buNone/>
            </a:pPr>
            <a:r>
              <a:rPr lang="en-IN" dirty="0">
                <a:solidFill>
                  <a:schemeClr val="tx2"/>
                </a:solidFill>
              </a:rPr>
              <a:t>Annual Depreciation expense= </a:t>
            </a:r>
            <a:r>
              <a:rPr lang="en-IN" u="sng" dirty="0">
                <a:solidFill>
                  <a:schemeClr val="tx2"/>
                </a:solidFill>
              </a:rPr>
              <a:t>(Asset cost – Residual Value) </a:t>
            </a:r>
          </a:p>
          <a:p>
            <a:pPr marL="45720" indent="0">
              <a:buNone/>
            </a:pPr>
            <a:r>
              <a:rPr lang="en-IN" dirty="0">
                <a:solidFill>
                  <a:schemeClr val="tx2"/>
                </a:solidFill>
              </a:rPr>
              <a:t>                                                          Useful life of the asset </a:t>
            </a:r>
          </a:p>
          <a:p>
            <a:pPr marL="45720" indent="0">
              <a:buNone/>
            </a:pPr>
            <a:r>
              <a:rPr lang="en-IN" b="1" dirty="0">
                <a:solidFill>
                  <a:schemeClr val="tx2"/>
                </a:solidFill>
              </a:rPr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59248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Numerical problem 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46111" y="1727097"/>
            <a:ext cx="10731336" cy="4316351"/>
          </a:xfrm>
        </p:spPr>
        <p:txBody>
          <a:bodyPr>
            <a:normAutofit/>
          </a:bodyPr>
          <a:lstStyle/>
          <a:p>
            <a:pPr marL="45720" indent="0">
              <a:lnSpc>
                <a:spcPct val="150000"/>
              </a:lnSpc>
              <a:buNone/>
            </a:pPr>
            <a:r>
              <a:rPr lang="en-US" dirty="0"/>
              <a:t>Q1.  For your company you have purchased a lap top worth </a:t>
            </a:r>
          </a:p>
          <a:p>
            <a:pPr marL="45720" indent="0">
              <a:lnSpc>
                <a:spcPct val="150000"/>
              </a:lnSpc>
              <a:buNone/>
            </a:pPr>
            <a:r>
              <a:rPr lang="en-US" dirty="0"/>
              <a:t>        Nu.1,20,000. What is the functionality or the salvage </a:t>
            </a:r>
          </a:p>
          <a:p>
            <a:pPr marL="45720" indent="0">
              <a:lnSpc>
                <a:spcPct val="150000"/>
              </a:lnSpc>
              <a:buNone/>
            </a:pPr>
            <a:r>
              <a:rPr lang="en-US" dirty="0"/>
              <a:t>        value of the laptop after 6 years if it depreciates @ 20%?</a:t>
            </a:r>
          </a:p>
          <a:p>
            <a:pPr marL="45720" indent="0">
              <a:lnSpc>
                <a:spcPct val="150000"/>
              </a:lnSpc>
              <a:buNone/>
            </a:pPr>
            <a:r>
              <a:rPr lang="en-US" dirty="0"/>
              <a:t>Q2. Yummy </a:t>
            </a:r>
            <a:r>
              <a:rPr lang="en-US" dirty="0" err="1"/>
              <a:t>Zurzay</a:t>
            </a:r>
            <a:r>
              <a:rPr lang="en-US" dirty="0"/>
              <a:t> company  purchases a processing machine for  Nu. 3,00,000 and the useful life of the unit is 10 years and  the residual value of it is Nu.30,000. Calculate the annual  depreciation expense.</a:t>
            </a: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795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break-even point (BEP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break-even point (</a:t>
            </a:r>
            <a:r>
              <a:rPr lang="en-US" dirty="0" smtClean="0"/>
              <a:t>BEP) represents </a:t>
            </a:r>
            <a:r>
              <a:rPr lang="en-US" dirty="0"/>
              <a:t>the </a:t>
            </a:r>
            <a:r>
              <a:rPr lang="en-US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 of sales at which total revenues equal total costs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At the break-even point, a business does not make a profit or incur a loss; it simply covers its costs. </a:t>
            </a:r>
          </a:p>
          <a:p>
            <a:pPr lvl="1"/>
            <a:r>
              <a:rPr lang="en-US" dirty="0"/>
              <a:t>Understanding the break-even point helps businesses </a:t>
            </a:r>
            <a:r>
              <a:rPr lang="en-US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determine the minimum sales needed to avoid losses</a:t>
            </a:r>
            <a:r>
              <a:rPr lang="en-US" dirty="0"/>
              <a:t> and is a fundamental tool in financial planning and decision-making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82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686" y="62458"/>
            <a:ext cx="11506200" cy="761546"/>
          </a:xfrm>
        </p:spPr>
        <p:txBody>
          <a:bodyPr>
            <a:normAutofit/>
          </a:bodyPr>
          <a:lstStyle/>
          <a:p>
            <a:r>
              <a:rPr lang="en-US" dirty="0"/>
              <a:t>Key Components of Break-Even </a:t>
            </a:r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686" y="1540476"/>
            <a:ext cx="11506200" cy="4873025"/>
          </a:xfrm>
        </p:spPr>
        <p:txBody>
          <a:bodyPr>
            <a:normAutofit/>
          </a:bodyPr>
          <a:lstStyle/>
          <a:p>
            <a:r>
              <a:rPr lang="en-US" dirty="0" smtClean="0"/>
              <a:t>Fixed costs </a:t>
            </a:r>
            <a:r>
              <a:rPr lang="en-US" dirty="0"/>
              <a:t>(FC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These are costs that remain constant regardless of the number of units produced or sold</a:t>
            </a:r>
            <a:r>
              <a:rPr lang="en-US" i="1" dirty="0"/>
              <a:t>. </a:t>
            </a:r>
            <a:r>
              <a:rPr lang="en-US" sz="1800" i="1" dirty="0"/>
              <a:t>Examples include rent, salaries, insurance, and depreciation. Fixed costs do not vary with production or sales volume.</a:t>
            </a:r>
          </a:p>
          <a:p>
            <a:r>
              <a:rPr lang="en-US" dirty="0"/>
              <a:t>Variable </a:t>
            </a:r>
            <a:r>
              <a:rPr lang="en-US" dirty="0" smtClean="0"/>
              <a:t>costs </a:t>
            </a:r>
            <a:r>
              <a:rPr lang="en-US" dirty="0"/>
              <a:t>(VC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These are costs that vary directly with the number of units produced or sold. </a:t>
            </a:r>
            <a:r>
              <a:rPr lang="en-US" sz="1800" i="1" dirty="0"/>
              <a:t>Examples include raw materials, direct labor, and packaging. Variable costs increase as production or sales volume increases.</a:t>
            </a:r>
          </a:p>
          <a:p>
            <a:r>
              <a:rPr lang="en-US" dirty="0"/>
              <a:t>Selling </a:t>
            </a:r>
            <a:r>
              <a:rPr lang="en-US" dirty="0" smtClean="0"/>
              <a:t>price </a:t>
            </a:r>
            <a:r>
              <a:rPr lang="en-US" dirty="0"/>
              <a:t>(SP) per </a:t>
            </a:r>
            <a:r>
              <a:rPr lang="en-US" dirty="0" smtClean="0"/>
              <a:t>unit</a:t>
            </a:r>
            <a:endParaRPr lang="en-US" dirty="0"/>
          </a:p>
          <a:p>
            <a:pPr lvl="1"/>
            <a:r>
              <a:rPr lang="en-US" dirty="0"/>
              <a:t>This is the price at which each unit of product is sold to customers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913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686" y="62458"/>
            <a:ext cx="11506200" cy="761546"/>
          </a:xfrm>
        </p:spPr>
        <p:txBody>
          <a:bodyPr>
            <a:normAutofit/>
          </a:bodyPr>
          <a:lstStyle/>
          <a:p>
            <a:r>
              <a:rPr lang="en-US" dirty="0"/>
              <a:t>Key Components of Break-Even </a:t>
            </a:r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686" y="1713470"/>
            <a:ext cx="11506200" cy="4700031"/>
          </a:xfrm>
        </p:spPr>
        <p:txBody>
          <a:bodyPr>
            <a:normAutofit/>
          </a:bodyPr>
          <a:lstStyle/>
          <a:p>
            <a:r>
              <a:rPr lang="en-US" dirty="0" smtClean="0"/>
              <a:t>Contribution margin </a:t>
            </a:r>
            <a:r>
              <a:rPr lang="en-US" dirty="0"/>
              <a:t>(CM):</a:t>
            </a:r>
          </a:p>
          <a:p>
            <a:pPr lvl="1"/>
            <a:r>
              <a:rPr lang="en-US" dirty="0"/>
              <a:t>This is the amount each unit contributes to covering fixed costs and generating profit. It is calculated as the selling price per unit minus the variable cost per unit.</a:t>
            </a:r>
          </a:p>
          <a:p>
            <a:pPr lvl="1"/>
            <a:r>
              <a:rPr lang="en-US" dirty="0"/>
              <a:t>CM=SP−</a:t>
            </a:r>
            <a:r>
              <a:rPr lang="en-US" dirty="0" smtClean="0"/>
              <a:t>VC</a:t>
            </a:r>
            <a:endParaRPr lang="en-US" dirty="0"/>
          </a:p>
          <a:p>
            <a:r>
              <a:rPr lang="en-US" dirty="0"/>
              <a:t>The break-even point is calculated </a:t>
            </a:r>
            <a:r>
              <a:rPr lang="en-US" dirty="0" smtClean="0"/>
              <a:t>using</a:t>
            </a:r>
          </a:p>
          <a:p>
            <a:pPr marL="0" indent="0">
              <a:buNone/>
            </a:pPr>
            <a:r>
              <a:rPr lang="en-US" dirty="0" smtClean="0"/>
              <a:t>					BEP = FC/CM 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44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899" y="1318054"/>
            <a:ext cx="11506200" cy="565562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You </a:t>
            </a:r>
            <a:r>
              <a:rPr lang="en-US" sz="2400" dirty="0"/>
              <a:t>are considering opening a new café in a suburban area. To decide whether to proceed, you need to conduct a break-even analysis to determine the number of units (e.g., cups of coffee) you need to sell to cover your costs.</a:t>
            </a:r>
          </a:p>
          <a:p>
            <a:r>
              <a:rPr lang="en-US" sz="2400" dirty="0" smtClean="0"/>
              <a:t>Step </a:t>
            </a:r>
            <a:r>
              <a:rPr lang="en-US" sz="2400" dirty="0"/>
              <a:t>1: Identify </a:t>
            </a:r>
            <a:r>
              <a:rPr lang="en-US" sz="2400" dirty="0" smtClean="0"/>
              <a:t>fixed costs </a:t>
            </a:r>
            <a:r>
              <a:rPr lang="en-US" sz="2400" dirty="0"/>
              <a:t>(FC)</a:t>
            </a:r>
          </a:p>
          <a:p>
            <a:pPr lvl="1"/>
            <a:r>
              <a:rPr lang="en-US" sz="1800" dirty="0"/>
              <a:t>Fixed costs are expenses that do not change regardless of the number of units sold. </a:t>
            </a:r>
            <a:r>
              <a:rPr lang="en-US" sz="1800" dirty="0" smtClean="0"/>
              <a:t>Taking a case of Café, fixed costs include</a:t>
            </a:r>
            <a:r>
              <a:rPr lang="en-US" sz="1800" dirty="0"/>
              <a:t>:</a:t>
            </a:r>
          </a:p>
          <a:p>
            <a:pPr lvl="1"/>
            <a:r>
              <a:rPr lang="en-US" sz="1800" dirty="0"/>
              <a:t>Rent: </a:t>
            </a:r>
            <a:r>
              <a:rPr lang="en-US" sz="1800" dirty="0" smtClean="0"/>
              <a:t>Nu30,000 per </a:t>
            </a:r>
            <a:r>
              <a:rPr lang="en-US" sz="1800" dirty="0"/>
              <a:t>month</a:t>
            </a:r>
          </a:p>
          <a:p>
            <a:pPr lvl="1"/>
            <a:r>
              <a:rPr lang="en-US" sz="1800" dirty="0"/>
              <a:t>Salaries: </a:t>
            </a:r>
            <a:r>
              <a:rPr lang="en-US" sz="1800" dirty="0" smtClean="0"/>
              <a:t>Nu.60,000 per </a:t>
            </a:r>
            <a:r>
              <a:rPr lang="en-US" sz="1800" dirty="0"/>
              <a:t>month </a:t>
            </a:r>
            <a:r>
              <a:rPr lang="en-US" sz="1800" dirty="0" smtClean="0"/>
              <a:t>(for manager </a:t>
            </a:r>
            <a:r>
              <a:rPr lang="en-US" sz="1800" dirty="0"/>
              <a:t>and staff)</a:t>
            </a:r>
          </a:p>
          <a:p>
            <a:pPr lvl="1"/>
            <a:r>
              <a:rPr lang="en-US" sz="1800" dirty="0"/>
              <a:t>Utilities: </a:t>
            </a:r>
            <a:r>
              <a:rPr lang="en-US" sz="1800" dirty="0" smtClean="0"/>
              <a:t>Nu.4,000 </a:t>
            </a:r>
            <a:r>
              <a:rPr lang="en-US" sz="1800" dirty="0"/>
              <a:t>per month</a:t>
            </a:r>
          </a:p>
          <a:p>
            <a:pPr lvl="1"/>
            <a:r>
              <a:rPr lang="en-US" sz="1800" dirty="0"/>
              <a:t>Insurance: </a:t>
            </a:r>
            <a:r>
              <a:rPr lang="en-US" sz="1800" dirty="0" smtClean="0"/>
              <a:t>Nu5,000 </a:t>
            </a:r>
            <a:r>
              <a:rPr lang="en-US" sz="1800" dirty="0"/>
              <a:t>per </a:t>
            </a:r>
            <a:r>
              <a:rPr lang="en-US" sz="1800" dirty="0" smtClean="0"/>
              <a:t>month (if insured)</a:t>
            </a:r>
            <a:endParaRPr lang="en-US" sz="1800" dirty="0"/>
          </a:p>
          <a:p>
            <a:pPr lvl="1"/>
            <a:r>
              <a:rPr lang="en-US" sz="1800" dirty="0"/>
              <a:t>Depreciation of equipment: </a:t>
            </a:r>
            <a:r>
              <a:rPr lang="en-US" sz="1800" dirty="0" smtClean="0"/>
              <a:t>Nu.800 per </a:t>
            </a:r>
            <a:r>
              <a:rPr lang="en-US" sz="1800" dirty="0"/>
              <a:t>month</a:t>
            </a:r>
          </a:p>
          <a:p>
            <a:pPr lvl="1"/>
            <a:r>
              <a:rPr lang="en-US" sz="1800" dirty="0"/>
              <a:t>Marketing: </a:t>
            </a:r>
            <a:r>
              <a:rPr lang="en-US" sz="1800" dirty="0" smtClean="0"/>
              <a:t>Nu.15,000 </a:t>
            </a:r>
            <a:r>
              <a:rPr lang="en-US" sz="1800" dirty="0"/>
              <a:t>per </a:t>
            </a:r>
            <a:r>
              <a:rPr lang="en-US" sz="1800" dirty="0" smtClean="0"/>
              <a:t>month (if vigorous marketing effort is required) </a:t>
            </a:r>
            <a:endParaRPr lang="en-US" sz="1800" dirty="0"/>
          </a:p>
          <a:p>
            <a:pPr lvl="1"/>
            <a:r>
              <a:rPr lang="en-US" sz="1800" dirty="0"/>
              <a:t>Total Fixed Costs (FC): </a:t>
            </a:r>
            <a:r>
              <a:rPr lang="en-US" sz="1800" dirty="0" smtClean="0"/>
              <a:t>FC=30,000+60,000+4,000+5,000+800+15,000 = 114,000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7322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5686" y="271849"/>
                <a:ext cx="11506200" cy="614165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sz="2400" dirty="0" smtClean="0"/>
                  <a:t>Step 2: Identify variable costs </a:t>
                </a:r>
                <a:r>
                  <a:rPr lang="en-US" sz="2400" dirty="0"/>
                  <a:t>(VC)</a:t>
                </a:r>
              </a:p>
              <a:p>
                <a:pPr lvl="1"/>
                <a:r>
                  <a:rPr lang="en-US" sz="1800" dirty="0"/>
                  <a:t>Variable costs change with the number of units sold. These include:</a:t>
                </a:r>
              </a:p>
              <a:p>
                <a:pPr lvl="1"/>
                <a:r>
                  <a:rPr lang="en-US" sz="1800" dirty="0"/>
                  <a:t>Cost of coffee beans per </a:t>
                </a:r>
                <a:r>
                  <a:rPr lang="en-US" sz="1800" dirty="0" smtClean="0"/>
                  <a:t>cup: Nu.40.00</a:t>
                </a:r>
                <a:endParaRPr lang="en-US" sz="1800" dirty="0"/>
              </a:p>
              <a:p>
                <a:pPr lvl="1"/>
                <a:r>
                  <a:rPr lang="en-US" sz="1800" dirty="0"/>
                  <a:t>Cost of milk, sugar, and other ingredients per cup: </a:t>
                </a:r>
                <a:r>
                  <a:rPr lang="en-US" sz="1800" dirty="0" smtClean="0"/>
                  <a:t>0.6 + 1.0+ 0.5 = Nu. 2.1</a:t>
                </a:r>
              </a:p>
              <a:p>
                <a:pPr lvl="1"/>
                <a:r>
                  <a:rPr lang="en-US" sz="1800" dirty="0" smtClean="0"/>
                  <a:t>Cost </a:t>
                </a:r>
                <a:r>
                  <a:rPr lang="en-US" sz="1800" dirty="0"/>
                  <a:t>of cups, lids, and napkins per cup: </a:t>
                </a:r>
                <a:r>
                  <a:rPr lang="en-US" sz="1800" dirty="0" smtClean="0"/>
                  <a:t>Nu.5</a:t>
                </a:r>
                <a:endParaRPr lang="en-US" sz="1800" dirty="0"/>
              </a:p>
              <a:p>
                <a:pPr lvl="1"/>
                <a:r>
                  <a:rPr lang="en-US" sz="1800" dirty="0"/>
                  <a:t>Total Variable Costs (VC) per unit: </a:t>
                </a:r>
                <a:r>
                  <a:rPr lang="en-US" sz="1800" dirty="0" smtClean="0"/>
                  <a:t>VC=40+2.1+5=Nu. 47.5</a:t>
                </a:r>
              </a:p>
              <a:p>
                <a:r>
                  <a:rPr lang="en-US" sz="2400" dirty="0"/>
                  <a:t>Step 3: Determine </a:t>
                </a:r>
                <a:r>
                  <a:rPr lang="en-US" sz="2400" dirty="0" smtClean="0"/>
                  <a:t>selling price </a:t>
                </a:r>
                <a:r>
                  <a:rPr lang="en-US" sz="2400" dirty="0"/>
                  <a:t>(SP) per Unit</a:t>
                </a:r>
              </a:p>
              <a:p>
                <a:pPr lvl="1"/>
                <a:r>
                  <a:rPr lang="en-US" sz="1800" dirty="0"/>
                  <a:t>The price at which you plan to sell one cup of coffee: </a:t>
                </a:r>
                <a:r>
                  <a:rPr lang="en-US" sz="1800" dirty="0" smtClean="0"/>
                  <a:t>SP=110</a:t>
                </a:r>
                <a:endParaRPr lang="en-US" sz="1800" dirty="0"/>
              </a:p>
              <a:p>
                <a:r>
                  <a:rPr lang="en-US" sz="2400" dirty="0"/>
                  <a:t>Step 4: </a:t>
                </a:r>
                <a:r>
                  <a:rPr lang="en-US" sz="2400" dirty="0" smtClean="0"/>
                  <a:t>Calculate contribution margin </a:t>
                </a:r>
                <a:r>
                  <a:rPr lang="en-US" sz="2400" dirty="0"/>
                  <a:t>(CM)</a:t>
                </a:r>
              </a:p>
              <a:p>
                <a:pPr lvl="1"/>
                <a:r>
                  <a:rPr lang="en-US" sz="1800" dirty="0"/>
                  <a:t>The contribution margin per unit is the selling price minus the variable cost: </a:t>
                </a:r>
                <a:endParaRPr lang="en-US" sz="1800" dirty="0" smtClean="0"/>
              </a:p>
              <a:p>
                <a:pPr lvl="2"/>
                <a:r>
                  <a:rPr lang="en-US" sz="1400" dirty="0" smtClean="0"/>
                  <a:t>CM=SP−VC</a:t>
                </a:r>
              </a:p>
              <a:p>
                <a:pPr lvl="2"/>
                <a:r>
                  <a:rPr lang="en-US" sz="1400" dirty="0" smtClean="0"/>
                  <a:t>CM=110−47.5=62.50</a:t>
                </a:r>
              </a:p>
              <a:p>
                <a:r>
                  <a:rPr lang="en-US" sz="2400" dirty="0"/>
                  <a:t>Step 5: Calculate </a:t>
                </a:r>
                <a:r>
                  <a:rPr lang="en-US" sz="2400" dirty="0" smtClean="0"/>
                  <a:t>break-even point </a:t>
                </a:r>
                <a:r>
                  <a:rPr lang="en-US" sz="2400" dirty="0"/>
                  <a:t>(BEP)</a:t>
                </a:r>
              </a:p>
              <a:p>
                <a:pPr lvl="1"/>
                <a:r>
                  <a:rPr lang="en-US" sz="1800" dirty="0"/>
                  <a:t>The break-even point in units is the fixed costs divided by the contribution margin per unit: </a:t>
                </a:r>
                <a:endParaRPr lang="en-US" sz="1800" dirty="0" smtClean="0"/>
              </a:p>
              <a:p>
                <a:pPr lvl="1"/>
                <a:endParaRPr lang="en-US" sz="18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𝐵𝐸𝑃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𝐹𝐶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𝐶𝑀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114,000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62.50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=1824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𝑐𝑢𝑝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𝑚𝑜𝑛𝑡h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=61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𝑐𝑢𝑝𝑠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𝑑𝑎𝑦</m:t>
                    </m:r>
                  </m:oMath>
                </a14:m>
                <a:endParaRPr lang="en-US" sz="1800" dirty="0"/>
              </a:p>
              <a:p>
                <a:pPr lvl="1"/>
                <a:endParaRPr lang="en-US" sz="1800" dirty="0" smtClean="0"/>
              </a:p>
              <a:p>
                <a:pPr lvl="1"/>
                <a:r>
                  <a:rPr lang="en-US" sz="1800" dirty="0" smtClean="0"/>
                  <a:t>So</a:t>
                </a:r>
                <a:r>
                  <a:rPr lang="en-US" sz="1800" dirty="0"/>
                  <a:t>, you need to sell </a:t>
                </a:r>
                <a:r>
                  <a:rPr lang="en-US" sz="1800" dirty="0" smtClean="0"/>
                  <a:t>1,824 </a:t>
                </a:r>
                <a:r>
                  <a:rPr lang="en-US" sz="1800" dirty="0"/>
                  <a:t>cups of coffee per month to break even.</a:t>
                </a:r>
              </a:p>
              <a:p>
                <a:endParaRPr lang="en-US" dirty="0"/>
              </a:p>
              <a:p>
                <a:pPr lvl="1"/>
                <a:endParaRPr lang="en-US" sz="1800" dirty="0"/>
              </a:p>
              <a:p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686" y="271849"/>
                <a:ext cx="11506200" cy="6141652"/>
              </a:xfrm>
              <a:blipFill>
                <a:blip r:embed="rId2"/>
                <a:stretch>
                  <a:fillRect l="-530" t="-1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5783" y="926756"/>
            <a:ext cx="1024195" cy="5676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3875" y="777338"/>
            <a:ext cx="426117" cy="8665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82392" y="1766288"/>
            <a:ext cx="706781" cy="9103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8384" y="777338"/>
            <a:ext cx="687648" cy="53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972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Numerical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103312" y="2052919"/>
            <a:ext cx="10205819" cy="1898972"/>
          </a:xfrm>
        </p:spPr>
        <p:txBody>
          <a:bodyPr/>
          <a:lstStyle/>
          <a:p>
            <a:pPr marL="45720" indent="0" algn="just">
              <a:buNone/>
            </a:pPr>
            <a:r>
              <a:rPr lang="en-IN" sz="2400" dirty="0"/>
              <a:t> A beverage factory has fixed costs of Nu.4,50,000 and produces coke with selling price of Nu.65 and variable cost is Nu.45 per unit. Calculate the break even point.</a:t>
            </a:r>
          </a:p>
          <a:p>
            <a:pPr marL="4572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540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your final report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4539" y="2473333"/>
            <a:ext cx="9470095" cy="23088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Refer the excel sheet sample uploaded in VLE to project your financial statements</a:t>
            </a:r>
            <a:r>
              <a:rPr lang="en-US" dirty="0"/>
              <a:t> </a:t>
            </a:r>
            <a:r>
              <a:rPr lang="en-US" dirty="0" smtClean="0"/>
              <a:t>for the report. Use that as a template sample for writing your financial statement and other calculations. </a:t>
            </a:r>
          </a:p>
          <a:p>
            <a:pPr marL="0" indent="0">
              <a:buNone/>
            </a:pPr>
            <a:r>
              <a:rPr lang="en-US" dirty="0" smtClean="0"/>
              <a:t>Please also include Break even analysis for your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51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1485</TotalTime>
  <Words>885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 Math</vt:lpstr>
      <vt:lpstr>Century Gothic</vt:lpstr>
      <vt:lpstr>Wingdings</vt:lpstr>
      <vt:lpstr>Wingdings 3</vt:lpstr>
      <vt:lpstr>Ion</vt:lpstr>
      <vt:lpstr>Wisp</vt:lpstr>
      <vt:lpstr>Unit 9: Financials</vt:lpstr>
      <vt:lpstr>Depreciation </vt:lpstr>
      <vt:lpstr>Straight line depreciation method</vt:lpstr>
      <vt:lpstr>Numerical problem </vt:lpstr>
      <vt:lpstr>The break-even point (BEP)</vt:lpstr>
      <vt:lpstr>Key Components of Break-Even Analysis</vt:lpstr>
      <vt:lpstr>Key Components of Break-Even Analysis</vt:lpstr>
      <vt:lpstr>Example </vt:lpstr>
      <vt:lpstr>PowerPoint Presentation</vt:lpstr>
      <vt:lpstr>Numerical</vt:lpstr>
      <vt:lpstr>For your final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10: Financials</dc:title>
  <dc:creator>SangayFinso</dc:creator>
  <cp:lastModifiedBy>SangayFinso</cp:lastModifiedBy>
  <cp:revision>38</cp:revision>
  <dcterms:created xsi:type="dcterms:W3CDTF">2024-04-30T09:55:59Z</dcterms:created>
  <dcterms:modified xsi:type="dcterms:W3CDTF">2025-10-29T05:39:55Z</dcterms:modified>
</cp:coreProperties>
</file>